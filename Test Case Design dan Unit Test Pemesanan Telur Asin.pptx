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2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8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D7495B-8981-0A7C-8821-3B793222D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84B"/>
                </a:solidFill>
                <a:latin typeface="Aptos"/>
              </a:defRPr>
            </a:pPr>
            <a:r>
              <a:t>1. Gambaran Sistem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51560" cy="64008"/>
          </a:xfrm>
          <a:prstGeom prst="rect">
            <a:avLst/>
          </a:prstGeom>
          <a:solidFill>
            <a:srgbClr val="24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07D"/>
                </a:solidFill>
                <a:latin typeface="Aptos"/>
              </a:defRPr>
            </a:pPr>
            <a:r>
              <a:t>Ruang lingkup yang terlihat dari file: public/index.php, public/proses_pesan.php, public/selesai.php, admin/login.php, admin/dashboard.php, dan database/telor_asin.sql.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Form pemesanan menerima nama, alamat, nomor telepon, jumlah, dan tanggal kirim.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633472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proses_pesan.php menghitung total dengan tarif tetap Rp3.000 per butir lalu menyimpan pesanan.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46703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438144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Setelah penyimpanan, pengguna diarahkan ke halaman konfirmasi pesanan berhasil.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51376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4242816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Admin login menggunakan username dan password; dashboard dilindungi session.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4707D"/>
                </a:solidFill>
                <a:latin typeface="Aptos"/>
              </a:defRPr>
            </a:pPr>
            <a:r>
              <a:t>Sistem Pemesanan Telur Asin • Test Case Design &amp; Unit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07D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84B"/>
                </a:solidFill>
                <a:latin typeface="Aptos"/>
              </a:defRPr>
            </a:pPr>
            <a:r>
              <a:t>2. Tujuan dan Ruang Lingkup Pengujian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51560" cy="64008"/>
          </a:xfrm>
          <a:prstGeom prst="rect">
            <a:avLst/>
          </a:prstGeom>
          <a:solidFill>
            <a:srgbClr val="24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Memastikan input pemesanan diproses dan disimpan dengan benar.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42032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633472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Memastikan total harga sesuai jumlah pesanan × Rp3.000.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46703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438144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Memastikan data tidak valid ditolak dengan pesan yang sesuai.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51376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242816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Memastikan login admin hanya berhasil dengan kredensial yang benar.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56048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04748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Catatan: pengujian ini mengacu pada implementasi yang ada; beberapa validasi belum tersedia di source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07D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84B"/>
                </a:solidFill>
                <a:latin typeface="Aptos"/>
              </a:defRPr>
            </a:pPr>
            <a:r>
              <a:t>3. Test Case Design — Pemesanan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51560" cy="64008"/>
          </a:xfrm>
          <a:prstGeom prst="rect">
            <a:avLst/>
          </a:prstGeom>
          <a:solidFill>
            <a:srgbClr val="24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07D"/>
                </a:solidFill>
                <a:latin typeface="Aptos"/>
              </a:defRPr>
            </a:pPr>
            <a:r>
              <a:t>Teknik: equivalence partitioning dan boundary value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11201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73152" marR="73152" marT="36576" marB="27432">
                    <a:solidFill>
                      <a:srgbClr val="11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Skenario / Data Uji</a:t>
                      </a:r>
                    </a:p>
                  </a:txBody>
                  <a:tcPr marL="73152" marR="73152" marT="36576" marB="27432">
                    <a:solidFill>
                      <a:srgbClr val="11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Hasil yang Diharapkan</a:t>
                      </a:r>
                    </a:p>
                  </a:txBody>
                  <a:tcPr marL="73152" marR="73152" marT="36576" marB="27432">
                    <a:solidFill>
                      <a:srgbClr val="11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TC-01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Nama, alamat, telepon, jumlah=10, tanggal valid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Pesanan tersimpan; total Rp30.000; status Menunggu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TC-02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Jumlah=1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Pesanan valid; total Rp3.000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TC-03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Jumlah=0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Ditolak; tampilkan validasi jumlah minimal 1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TC-04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Jumlah=-2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Ditolak; jumlah tidak boleh negatif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TC-05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Nama kosong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Ditolak; nama wajib diisi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TC-06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Tanggal kirim kosong / format tidak valid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Ditolak; tanggal kirim wajib dan valid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TC-07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Telepon berisi karakter tak sesuai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Ditolak atau dinormalisasi sesuai aturan validasi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07D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84B"/>
                </a:solidFill>
                <a:latin typeface="Aptos"/>
              </a:defRPr>
            </a:pPr>
            <a:r>
              <a:t>4. Test Case Design — Login &amp; Akses Admin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51560" cy="64008"/>
          </a:xfrm>
          <a:prstGeom prst="rect">
            <a:avLst/>
          </a:prstGeom>
          <a:solidFill>
            <a:srgbClr val="24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07D"/>
                </a:solidFill>
                <a:latin typeface="Aptos"/>
              </a:defRPr>
            </a:pPr>
            <a:r>
              <a:t>Fokus pada autentikasi dan pembatasan akses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112014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29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ID</a:t>
                      </a:r>
                    </a:p>
                  </a:txBody>
                  <a:tcPr marL="73152" marR="73152" marT="36576" marB="27432">
                    <a:solidFill>
                      <a:srgbClr val="11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Skenario / Data Uji</a:t>
                      </a:r>
                    </a:p>
                  </a:txBody>
                  <a:tcPr marL="73152" marR="73152" marT="36576" marB="27432">
                    <a:solidFill>
                      <a:srgbClr val="1128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Hasil yang Diharapkan</a:t>
                      </a:r>
                    </a:p>
                  </a:txBody>
                  <a:tcPr marL="73152" marR="73152" marT="36576" marB="27432">
                    <a:solidFill>
                      <a:srgbClr val="11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TC-08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Username admin dan password benar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Login berhasil; session admin dibuat; dashboard terbuka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TC-09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Password salah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Login ditolak; pesan Login gagal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TC-10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Username tidak terdaftar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Login ditolak; pesan Login gagal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TC-11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Buka dashboard tanpa login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Dialihkan ke halaman login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TC-12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Input username berisi tanda kutip SQL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Login ditolak aman; query tidak boleh berubah</a:t>
                      </a:r>
                    </a:p>
                  </a:txBody>
                  <a:tcPr marL="73152" marR="73152" marT="36576" marB="27432">
                    <a:solidFill>
                      <a:srgbClr val="DE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29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TC-13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Logout lalu akses dashboard kembali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83241"/>
                          </a:solidFill>
                          <a:latin typeface="Aptos"/>
                        </a:defRPr>
                      </a:pPr>
                      <a:r>
                        <a:t>Session berakhir; pengguna diarahkan ke login</a:t>
                      </a:r>
                    </a:p>
                  </a:txBody>
                  <a:tcPr marL="73152" marR="73152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07D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84B"/>
                </a:solidFill>
                <a:latin typeface="Aptos"/>
              </a:defRPr>
            </a:pPr>
            <a:r>
              <a:t>5. Prioritas Pengujian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51560" cy="64008"/>
          </a:xfrm>
          <a:prstGeom prst="rect">
            <a:avLst/>
          </a:prstGeom>
          <a:solidFill>
            <a:srgbClr val="24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P1 — Perhitungan total dan penyimpanan pesanan: berdampak langsung pada transaksi.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42032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633472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P1 — Validasi jumlah dan input wajib: mencegah data kosong atau nilai tidak masuk akal.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46703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438144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P1 — Login dan session admin: melindungi halaman pengelolaan.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51376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242816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P2 — Validasi format telepon dan tanggal kirim.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56048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5047488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P2 — Penanganan kegagalan database dan pesan error yang aman.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07D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84B"/>
                </a:solidFill>
                <a:latin typeface="Aptos"/>
              </a:defRPr>
            </a:pPr>
            <a:r>
              <a:t>6. Unit Test — Fungsi yang Diuji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51560" cy="64008"/>
          </a:xfrm>
          <a:prstGeom prst="rect">
            <a:avLst/>
          </a:prstGeom>
          <a:solidFill>
            <a:srgbClr val="24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07D"/>
                </a:solidFill>
                <a:latin typeface="Aptos"/>
              </a:defRPr>
            </a:pPr>
            <a:r>
              <a:t>Contoh unit test menggunakan PHPUnit; fungsi dipisahkan agar dapat diuji tanpa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20440" cy="3108960"/>
          </a:xfrm>
          <a:prstGeom prst="roundRect">
            <a:avLst/>
          </a:prstGeom>
          <a:solidFill>
            <a:srgbClr val="DEF1FF"/>
          </a:solidFill>
          <a:ln>
            <a:solidFill>
              <a:srgbClr val="24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1488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84B"/>
                </a:solidFill>
                <a:latin typeface="Aptos"/>
              </a:defRPr>
            </a:pPr>
            <a:r>
              <a:t>1. hitungTotal($jumlah)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71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241"/>
                </a:solidFill>
                <a:latin typeface="Aptos"/>
              </a:defRPr>
            </a:pPr>
            <a:r>
              <a:t>Input 10 → 30000</a:t>
            </a:r>
          </a:p>
          <a:p>
            <a:pPr>
              <a:spcAft>
                <a:spcPts val="700"/>
              </a:spcAft>
              <a:defRPr sz="1500" b="0">
                <a:solidFill>
                  <a:srgbClr val="283241"/>
                </a:solidFill>
                <a:latin typeface="Aptos"/>
              </a:defRPr>
            </a:pPr>
            <a:r>
              <a:t>Input 1 → 3000</a:t>
            </a:r>
          </a:p>
          <a:p>
            <a:pPr>
              <a:spcAft>
                <a:spcPts val="700"/>
              </a:spcAft>
              <a:defRPr sz="1500" b="0">
                <a:solidFill>
                  <a:srgbClr val="283241"/>
                </a:solidFill>
                <a:latin typeface="Aptos"/>
              </a:defRPr>
            </a:pPr>
            <a:r>
              <a:t>Input 0/negatif → exception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520440" cy="3108960"/>
          </a:xfrm>
          <a:prstGeom prst="roundRect">
            <a:avLst/>
          </a:prstGeom>
          <a:solidFill>
            <a:srgbClr val="DEF1FF"/>
          </a:solidFill>
          <a:ln>
            <a:solidFill>
              <a:srgbClr val="24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81728" y="21488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84B"/>
                </a:solidFill>
                <a:latin typeface="Aptos"/>
              </a:defRPr>
            </a:pPr>
            <a:r>
              <a:t>2. validasiPesanan($data)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971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241"/>
                </a:solidFill>
                <a:latin typeface="Aptos"/>
              </a:defRPr>
            </a:pPr>
            <a:r>
              <a:t>Data lengkap → valid</a:t>
            </a:r>
          </a:p>
          <a:p>
            <a:pPr>
              <a:spcAft>
                <a:spcPts val="700"/>
              </a:spcAft>
              <a:defRPr sz="1500" b="0">
                <a:solidFill>
                  <a:srgbClr val="283241"/>
                </a:solidFill>
                <a:latin typeface="Aptos"/>
              </a:defRPr>
            </a:pPr>
            <a:r>
              <a:t>Nama kosong → tidak valid</a:t>
            </a:r>
          </a:p>
          <a:p>
            <a:pPr>
              <a:spcAft>
                <a:spcPts val="700"/>
              </a:spcAft>
              <a:defRPr sz="1500" b="0">
                <a:solidFill>
                  <a:srgbClr val="283241"/>
                </a:solidFill>
                <a:latin typeface="Aptos"/>
              </a:defRPr>
            </a:pPr>
            <a:r>
              <a:t>Jumlah 0 → tidak valid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3520440" cy="3108960"/>
          </a:xfrm>
          <a:prstGeom prst="roundRect">
            <a:avLst/>
          </a:prstGeom>
          <a:solidFill>
            <a:srgbClr val="DEF1FF"/>
          </a:solidFill>
          <a:ln>
            <a:solidFill>
              <a:srgbClr val="24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22208" y="21488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1284B"/>
                </a:solidFill>
                <a:latin typeface="Aptos"/>
              </a:defRPr>
            </a:pPr>
            <a:r>
              <a:t>3. validasiLogin($username, $password, $akun)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971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3241"/>
                </a:solidFill>
                <a:latin typeface="Aptos"/>
              </a:defRPr>
            </a:pPr>
            <a:r>
              <a:t>Kredensial cocok → true</a:t>
            </a:r>
          </a:p>
          <a:p>
            <a:pPr>
              <a:spcAft>
                <a:spcPts val="700"/>
              </a:spcAft>
              <a:defRPr sz="1500" b="0">
                <a:solidFill>
                  <a:srgbClr val="283241"/>
                </a:solidFill>
                <a:latin typeface="Aptos"/>
              </a:defRPr>
            </a:pPr>
            <a:r>
              <a:t>Password salah → false</a:t>
            </a:r>
          </a:p>
          <a:p>
            <a:pPr>
              <a:spcAft>
                <a:spcPts val="700"/>
              </a:spcAft>
              <a:defRPr sz="1500" b="0">
                <a:solidFill>
                  <a:srgbClr val="283241"/>
                </a:solidFill>
                <a:latin typeface="Aptos"/>
              </a:defRPr>
            </a:pPr>
            <a:r>
              <a:t>Username tidak cocok → 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D27D1E"/>
                </a:solidFill>
                <a:latin typeface="Aptos"/>
              </a:defRPr>
            </a:pPr>
            <a:r>
              <a:t>Catatan: fungsi berikut adalah refaktor/contoh untuk pengujian unit, belum menjadi fungsi yang ada di source code awal.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07D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84B"/>
                </a:solidFill>
                <a:latin typeface="Aptos"/>
              </a:defRPr>
            </a:pPr>
            <a:r>
              <a:t>7. Implementasi Fungsi yang Dapat Diuji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51560" cy="64008"/>
          </a:xfrm>
          <a:prstGeom prst="rect">
            <a:avLst/>
          </a:prstGeom>
          <a:solidFill>
            <a:srgbClr val="24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07D"/>
                </a:solidFill>
                <a:latin typeface="Aptos"/>
              </a:defRPr>
            </a:pPr>
            <a:r>
              <a:t>Simpan sebagai tests/Support/OrderHelper.php (contoh refaktor)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10972800" cy="4434840"/>
          </a:xfrm>
          <a:prstGeom prst="roundRect">
            <a:avLst/>
          </a:prstGeom>
          <a:solidFill>
            <a:srgbClr val="14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&lt;?php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function hitungTotal(int $jumlah): int {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    if ($jumlah &lt; 1) {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        throw new InvalidArgumentException('Jumlah minimal 1');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    }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    return $jumlah * 3000;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}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function validasiPesanan(array $data): bool {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    return trim($data['nama'] ?? '') !== ''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        &amp;&amp; trim($data['alamat'] ?? '') !== ''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        &amp;&amp; preg_match('/^[0-9+\- ]{8,20}$/', $data['telp'] ?? '') === 1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        &amp;&amp; filter_var($data['jumlah'] ?? null, FILTER_VALIDATE_INT) !== false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        &amp;&amp; (int)$data['jumlah'] &gt;= 1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        &amp;&amp; !empty($data['tgl_kirim']);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}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endParaRPr/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function validasiLogin(string $username, string $password, array $akun): bool {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    return isset($akun['username'], $akun['password'])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        &amp;&amp; hash_equals((string)$akun['username'], $username)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        &amp;&amp; password_verify($password, (string)$akun['password']);</a:t>
            </a:r>
          </a:p>
          <a:p>
            <a:pPr>
              <a:defRPr sz="1300">
                <a:solidFill>
                  <a:srgbClr val="DCEBFA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07D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84B"/>
                </a:solidFill>
                <a:latin typeface="Aptos"/>
              </a:defRPr>
            </a:pPr>
            <a:r>
              <a:t>8. Unit Test — PHPUnit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51560" cy="64008"/>
          </a:xfrm>
          <a:prstGeom prst="rect">
            <a:avLst/>
          </a:prstGeom>
          <a:solidFill>
            <a:srgbClr val="24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4707D"/>
                </a:solidFill>
                <a:latin typeface="Aptos"/>
              </a:defRPr>
            </a:pPr>
            <a:r>
              <a:t>Contoh file: tests/Unit/OrderHelperTest.php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10972800" cy="4480560"/>
          </a:xfrm>
          <a:prstGeom prst="roundRect">
            <a:avLst/>
          </a:prstGeom>
          <a:solidFill>
            <a:srgbClr val="14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251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&lt;?php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use PHPUnit\Framework\TestCase;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endParaRPr/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require_once __DIR__ . '/../Support/OrderHelper.php';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endParaRPr/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final class OrderHelperTest extends TestCase {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public function testHitungTotalSepuluhButir(): void {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    $this-&gt;assertSame(30000, hitungTotal(10));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}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endParaRPr/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public function testJumlahNolDitolak(): void {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    $this-&gt;expectException(InvalidArgumentException::class);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    hitungTotal(0);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}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endParaRPr/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public function testPesananLengkapValid(): void {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    $data = ['nama'=&gt;'Budi', 'alamat'=&gt;'Cilacap',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        'telp'=&gt;'081293385557', 'jumlah'=&gt;2,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        'tgl_kirim'=&gt;'2026-10-20'];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    $this-&gt;assertTrue(validasiPesanan($data));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}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endParaRPr/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public function testNamaKosongTidakValid(): void {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    $data = ['nama'=&gt;'', 'alamat'=&gt;'Cilacap',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        'telp'=&gt;'081293385557', 'jumlah'=&gt;2,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        'tgl_kirim'=&gt;'2026-10-20'];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    $this-&gt;assertFalse(validasiPesanan($data));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}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endParaRPr/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public function testLoginPasswordSalah(): void {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    $akun = ['username'=&gt;'admin',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        'password'=&gt;password_hash('rahasia', PASSWORD_DEFAULT)];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    $this-&gt;assertFalse(validasiLogin('admin','salah',$akun));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    }</a:t>
            </a:r>
          </a:p>
          <a:p>
            <a:pPr>
              <a:defRPr sz="1150">
                <a:solidFill>
                  <a:srgbClr val="DCEBFA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07D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84B"/>
                </a:solidFill>
                <a:latin typeface="Aptos"/>
              </a:defRPr>
            </a:pPr>
            <a:r>
              <a:t>9. Cara Menjalankan dan Kriteria Lulus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51560" cy="64008"/>
          </a:xfrm>
          <a:prstGeom prst="rect">
            <a:avLst/>
          </a:prstGeom>
          <a:solidFill>
            <a:srgbClr val="24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1284B"/>
                </a:solidFill>
                <a:latin typeface="Aptos"/>
              </a:defRPr>
            </a:pPr>
            <a:r>
              <a:t>Jalankan pengujian (setelah PHPUnit tersedia):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75BE"/>
                </a:solidFill>
                <a:latin typeface="Consolas"/>
              </a:defRPr>
            </a:pPr>
            <a:r>
              <a:t>vendor/bin/phpunit tests/Unit/OrderHelperTest.php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1284B"/>
                </a:solidFill>
                <a:latin typeface="Aptos"/>
              </a:defRPr>
            </a:pPr>
            <a:r>
              <a:t>Kriteria lulus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C825A"/>
                </a:solidFill>
                <a:latin typeface="Aptos"/>
              </a:defRPr>
            </a:pPr>
            <a:r>
              <a:t>✓  Semua assertion sesuai hasil yang diharapkan.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C825A"/>
                </a:solidFill>
                <a:latin typeface="Aptos"/>
              </a:defRPr>
            </a:pPr>
            <a:r>
              <a:t>✓  Jumlah 10 menghasilkan Rp30.000 dan jumlah 0 ditolak.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C825A"/>
                </a:solidFill>
                <a:latin typeface="Aptos"/>
              </a:defRPr>
            </a:pPr>
            <a:r>
              <a:t>✓  Pesanan lengkap valid, sedangkan nama kosong tidak valid.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C825A"/>
                </a:solidFill>
                <a:latin typeface="Aptos"/>
              </a:defRPr>
            </a:pPr>
            <a:r>
              <a:t>✓  Password salah tidak boleh lolos autentikasi.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B43737"/>
                </a:solidFill>
                <a:latin typeface="Aptos"/>
              </a:defRPr>
            </a:pPr>
            <a:r>
              <a:rPr dirty="0" err="1"/>
              <a:t>Penting</a:t>
            </a:r>
            <a:r>
              <a:rPr dirty="0"/>
              <a:t>: </a:t>
            </a:r>
            <a:r>
              <a:rPr dirty="0" err="1"/>
              <a:t>implementasi</a:t>
            </a:r>
            <a:r>
              <a:rPr dirty="0"/>
              <a:t> </a:t>
            </a:r>
            <a:r>
              <a:rPr dirty="0" err="1"/>
              <a:t>asli</a:t>
            </a:r>
            <a:r>
              <a:rPr dirty="0"/>
              <a:t> </a:t>
            </a:r>
            <a:r>
              <a:rPr dirty="0" err="1"/>
              <a:t>belum</a:t>
            </a:r>
            <a:r>
              <a:rPr dirty="0"/>
              <a:t> </a:t>
            </a:r>
            <a:r>
              <a:rPr dirty="0" err="1"/>
              <a:t>memvalidasi</a:t>
            </a:r>
            <a:r>
              <a:rPr dirty="0"/>
              <a:t> input dan </a:t>
            </a:r>
            <a:r>
              <a:rPr dirty="0" err="1"/>
              <a:t>menggunakan</a:t>
            </a:r>
            <a:r>
              <a:rPr dirty="0"/>
              <a:t> MD5 </a:t>
            </a:r>
            <a:r>
              <a:rPr dirty="0" err="1"/>
              <a:t>serta</a:t>
            </a:r>
            <a:r>
              <a:rPr dirty="0"/>
              <a:t> query SQL </a:t>
            </a:r>
            <a:r>
              <a:rPr dirty="0" err="1"/>
              <a:t>langsung</a:t>
            </a:r>
            <a:r>
              <a:rPr dirty="0"/>
              <a:t>. </a:t>
            </a:r>
            <a:r>
              <a:rPr dirty="0" err="1"/>
              <a:t>Gunakan</a:t>
            </a:r>
            <a:r>
              <a:rPr dirty="0"/>
              <a:t> prepared statement, </a:t>
            </a:r>
            <a:r>
              <a:rPr dirty="0" err="1"/>
              <a:t>validasi</a:t>
            </a:r>
            <a:r>
              <a:rPr dirty="0"/>
              <a:t> server-side, dan </a:t>
            </a:r>
            <a:r>
              <a:rPr dirty="0" err="1"/>
              <a:t>password_hash</a:t>
            </a:r>
            <a:r>
              <a:rPr dirty="0"/>
              <a:t>/</a:t>
            </a:r>
            <a:r>
              <a:rPr dirty="0" err="1"/>
              <a:t>password_verify</a:t>
            </a:r>
            <a:r>
              <a:rPr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07D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1284B"/>
                </a:solidFill>
                <a:latin typeface="Aptos"/>
              </a:defRPr>
            </a:pPr>
            <a:r>
              <a:t>10. Kesimpulan dan Rekomendasi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51560" cy="64008"/>
          </a:xfrm>
          <a:prstGeom prst="rect">
            <a:avLst/>
          </a:prstGeom>
          <a:solidFill>
            <a:srgbClr val="24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Test case mencakup alur pemesanan, batas jumlah, data wajib, autentikasi, dan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42032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633472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Unit test contoh menguji tiga fungsi inti: hitungTotal, validasiPesanan, dan validasiLogin.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46703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438144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Sebelum dipakai, integrasikan helper ke aplikasi dan sesuaikan skema akun admin.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51376"/>
            <a:ext cx="10789920" cy="621792"/>
          </a:xfrm>
          <a:prstGeom prst="roundRect">
            <a:avLst/>
          </a:prstGeom>
          <a:solidFill>
            <a:srgbClr val="D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242816"/>
            <a:ext cx="10287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83241"/>
                </a:solidFill>
                <a:latin typeface="Aptos"/>
              </a:defRPr>
            </a:pPr>
            <a:r>
              <a:t>• Perbaikan keamanan yang disarankan: prepared statement, validasi sisi server, password_hash, dan penanganan error 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4707D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1200</Words>
  <Application>Microsoft Office PowerPoint</Application>
  <PresentationFormat>Widescreen</PresentationFormat>
  <Paragraphs>168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alfindotech</cp:lastModifiedBy>
  <cp:revision>3</cp:revision>
  <dcterms:created xsi:type="dcterms:W3CDTF">2013-01-27T09:14:16Z</dcterms:created>
  <dcterms:modified xsi:type="dcterms:W3CDTF">2026-10-11T17:38:45Z</dcterms:modified>
  <cp:category/>
</cp:coreProperties>
</file>